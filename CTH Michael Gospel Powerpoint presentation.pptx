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4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E66949A-0105-451A-9722-D247D03F3E00}" type="datetimeFigureOut">
              <a:rPr lang="en-NG" smtClean="0"/>
              <a:t>27/03/2026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F5BB01A-3139-4E6A-A8C8-19073F6538A7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38916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949A-0105-451A-9722-D247D03F3E00}" type="datetimeFigureOut">
              <a:rPr lang="en-NG" smtClean="0"/>
              <a:t>27/03/2026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BB01A-3139-4E6A-A8C8-19073F6538A7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485627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949A-0105-451A-9722-D247D03F3E00}" type="datetimeFigureOut">
              <a:rPr lang="en-NG" smtClean="0"/>
              <a:t>27/03/2026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BB01A-3139-4E6A-A8C8-19073F6538A7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863781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949A-0105-451A-9722-D247D03F3E00}" type="datetimeFigureOut">
              <a:rPr lang="en-NG" smtClean="0"/>
              <a:t>27/03/2026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BB01A-3139-4E6A-A8C8-19073F6538A7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186791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949A-0105-451A-9722-D247D03F3E00}" type="datetimeFigureOut">
              <a:rPr lang="en-NG" smtClean="0"/>
              <a:t>27/03/2026</a:t>
            </a:fld>
            <a:endParaRPr lang="en-N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BB01A-3139-4E6A-A8C8-19073F6538A7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345717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949A-0105-451A-9722-D247D03F3E00}" type="datetimeFigureOut">
              <a:rPr lang="en-NG" smtClean="0"/>
              <a:t>27/03/2026</a:t>
            </a:fld>
            <a:endParaRPr lang="en-N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BB01A-3139-4E6A-A8C8-19073F6538A7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25261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949A-0105-451A-9722-D247D03F3E00}" type="datetimeFigureOut">
              <a:rPr lang="en-NG" smtClean="0"/>
              <a:t>27/03/2026</a:t>
            </a:fld>
            <a:endParaRPr lang="en-N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BB01A-3139-4E6A-A8C8-19073F6538A7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75270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949A-0105-451A-9722-D247D03F3E00}" type="datetimeFigureOut">
              <a:rPr lang="en-NG" smtClean="0"/>
              <a:t>27/03/2026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BB01A-3139-4E6A-A8C8-19073F6538A7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402172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949A-0105-451A-9722-D247D03F3E00}" type="datetimeFigureOut">
              <a:rPr lang="en-NG" smtClean="0"/>
              <a:t>27/03/2026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BB01A-3139-4E6A-A8C8-19073F6538A7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12369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949A-0105-451A-9722-D247D03F3E00}" type="datetimeFigureOut">
              <a:rPr lang="en-NG" smtClean="0"/>
              <a:t>27/03/2026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BB01A-3139-4E6A-A8C8-19073F6538A7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641776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949A-0105-451A-9722-D247D03F3E00}" type="datetimeFigureOut">
              <a:rPr lang="en-NG" smtClean="0"/>
              <a:t>27/03/2026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BB01A-3139-4E6A-A8C8-19073F6538A7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144111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949A-0105-451A-9722-D247D03F3E00}" type="datetimeFigureOut">
              <a:rPr lang="en-NG" smtClean="0"/>
              <a:t>27/03/2026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BB01A-3139-4E6A-A8C8-19073F6538A7}" type="slidenum">
              <a:rPr lang="en-NG" smtClean="0"/>
              <a:t>‹#›</a:t>
            </a:fld>
            <a:endParaRPr lang="en-NG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4629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949A-0105-451A-9722-D247D03F3E00}" type="datetimeFigureOut">
              <a:rPr lang="en-NG" smtClean="0"/>
              <a:t>27/03/2026</a:t>
            </a:fld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BB01A-3139-4E6A-A8C8-19073F6538A7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3942348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949A-0105-451A-9722-D247D03F3E00}" type="datetimeFigureOut">
              <a:rPr lang="en-NG" smtClean="0"/>
              <a:t>27/03/2026</a:t>
            </a:fld>
            <a:endParaRPr lang="en-N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BB01A-3139-4E6A-A8C8-19073F6538A7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96724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949A-0105-451A-9722-D247D03F3E00}" type="datetimeFigureOut">
              <a:rPr lang="en-NG" smtClean="0"/>
              <a:t>27/03/2026</a:t>
            </a:fld>
            <a:endParaRPr lang="en-N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BB01A-3139-4E6A-A8C8-19073F6538A7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9051470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949A-0105-451A-9722-D247D03F3E00}" type="datetimeFigureOut">
              <a:rPr lang="en-NG" smtClean="0"/>
              <a:t>27/03/2026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BB01A-3139-4E6A-A8C8-19073F6538A7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3990748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6949A-0105-451A-9722-D247D03F3E00}" type="datetimeFigureOut">
              <a:rPr lang="en-NG" smtClean="0"/>
              <a:t>27/03/2026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BB01A-3139-4E6A-A8C8-19073F6538A7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88332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6949A-0105-451A-9722-D247D03F3E00}" type="datetimeFigureOut">
              <a:rPr lang="en-NG" smtClean="0"/>
              <a:t>27/03/2026</a:t>
            </a:fld>
            <a:endParaRPr lang="en-N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BB01A-3139-4E6A-A8C8-19073F6538A7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1499388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0FA96C-98B9-93A7-65B5-06010921DC64}"/>
              </a:ext>
            </a:extLst>
          </p:cNvPr>
          <p:cNvSpPr txBox="1"/>
          <p:nvPr/>
        </p:nvSpPr>
        <p:spPr>
          <a:xfrm>
            <a:off x="3129643" y="2351315"/>
            <a:ext cx="618852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MICHAEL GOSPEL PROJECT PRESENTATION</a:t>
            </a:r>
            <a:endParaRPr lang="en-NG" sz="4400" b="1" dirty="0"/>
          </a:p>
        </p:txBody>
      </p:sp>
    </p:spTree>
    <p:extLst>
      <p:ext uri="{BB962C8B-B14F-4D97-AF65-F5344CB8AC3E}">
        <p14:creationId xmlns:p14="http://schemas.microsoft.com/office/powerpoint/2010/main" val="2654631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BD222F-53A8-097E-0744-5EF4A44A0BAD}"/>
              </a:ext>
            </a:extLst>
          </p:cNvPr>
          <p:cNvSpPr txBox="1"/>
          <p:nvPr/>
        </p:nvSpPr>
        <p:spPr>
          <a:xfrm>
            <a:off x="1817915" y="982176"/>
            <a:ext cx="6096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TABLE OF CONTENTS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Introduction / Objective 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Dashboard Overview 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Key Metrics Summary 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Sales Performance by Market 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Sales by Category 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Regional Performance (Quantity Sold) 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Customer Segment Analysis (Discount Impact) 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Shipping Mode Analysis 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Monthly Profit Trend 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Key Insights 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Recommendations </a:t>
            </a:r>
          </a:p>
          <a:p>
            <a:pPr>
              <a:buFont typeface="+mj-lt"/>
              <a:buAutoNum type="arabicPeriod"/>
            </a:pPr>
            <a:r>
              <a:rPr lang="en-US" sz="24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56980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A8794E-80ED-DAF1-ED13-6B5B6A78AEEE}"/>
              </a:ext>
            </a:extLst>
          </p:cNvPr>
          <p:cNvSpPr txBox="1"/>
          <p:nvPr/>
        </p:nvSpPr>
        <p:spPr>
          <a:xfrm>
            <a:off x="1709057" y="1980924"/>
            <a:ext cx="609600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presentation analyzes sales, profit, and customer trends.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identify: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High-performing regions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Profitable categories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behavior patterns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will support better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3327108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BC9196-7870-80F3-208A-2F091ED16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27" y="1203253"/>
            <a:ext cx="10917174" cy="42773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4589C87-CAD7-4B16-0F5C-495633D56ECC}"/>
              </a:ext>
            </a:extLst>
          </p:cNvPr>
          <p:cNvSpPr txBox="1"/>
          <p:nvPr/>
        </p:nvSpPr>
        <p:spPr>
          <a:xfrm>
            <a:off x="4452256" y="555172"/>
            <a:ext cx="478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</a:t>
            </a:r>
            <a:endParaRPr lang="en-NG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917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68BD03-D2FC-BAE7-6B76-6D6F305AFC20}"/>
              </a:ext>
            </a:extLst>
          </p:cNvPr>
          <p:cNvSpPr txBox="1"/>
          <p:nvPr/>
        </p:nvSpPr>
        <p:spPr>
          <a:xfrm>
            <a:off x="1138918" y="1538130"/>
            <a:ext cx="991416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Key Metrics Summary</a:t>
            </a:r>
          </a:p>
          <a:p>
            <a:pPr>
              <a:buNone/>
            </a:pPr>
            <a:endParaRPr lang="en-U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Total Sales:</a:t>
            </a:r>
            <a:r>
              <a:rPr lang="en-US" sz="2800" dirty="0"/>
              <a:t> ₦12,642,905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Total Profit:</a:t>
            </a:r>
            <a:r>
              <a:rPr lang="en-US" sz="2800" dirty="0"/>
              <a:t> ₦1,467,457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Total Quantity Sold:</a:t>
            </a:r>
            <a:r>
              <a:rPr lang="en-US" sz="2800" dirty="0"/>
              <a:t> 178,312 </a:t>
            </a:r>
          </a:p>
          <a:p>
            <a:pPr>
              <a:buNone/>
            </a:pPr>
            <a:r>
              <a:rPr lang="en-US" sz="2800" dirty="0"/>
              <a:t>Insight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Shows overall business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Indicates strong revenue with moderate profit margin</a:t>
            </a:r>
          </a:p>
        </p:txBody>
      </p:sp>
    </p:spTree>
    <p:extLst>
      <p:ext uri="{BB962C8B-B14F-4D97-AF65-F5344CB8AC3E}">
        <p14:creationId xmlns:p14="http://schemas.microsoft.com/office/powerpoint/2010/main" val="1040222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6D3260-0954-C941-244C-1F65BC733E99}"/>
              </a:ext>
            </a:extLst>
          </p:cNvPr>
          <p:cNvSpPr txBox="1"/>
          <p:nvPr/>
        </p:nvSpPr>
        <p:spPr>
          <a:xfrm>
            <a:off x="1581151" y="1618681"/>
            <a:ext cx="743222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Sales Performance by Market</a:t>
            </a:r>
          </a:p>
          <a:p>
            <a:pPr>
              <a:buNone/>
            </a:pPr>
            <a:endParaRPr lang="en-U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APAC has the highest sales (~3.58M)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EU and North America follow closely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Africa and EMEA have lower contributions </a:t>
            </a:r>
          </a:p>
          <a:p>
            <a:pPr>
              <a:buNone/>
            </a:pPr>
            <a:r>
              <a:rPr lang="en-US" sz="2800" dirty="0"/>
              <a:t>Insight: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Business is strongest in international markets</a:t>
            </a:r>
          </a:p>
        </p:txBody>
      </p:sp>
    </p:spTree>
    <p:extLst>
      <p:ext uri="{BB962C8B-B14F-4D97-AF65-F5344CB8AC3E}">
        <p14:creationId xmlns:p14="http://schemas.microsoft.com/office/powerpoint/2010/main" val="1935319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D4309E-4498-CF4B-6CD0-9D6CAD4FB1CA}"/>
              </a:ext>
            </a:extLst>
          </p:cNvPr>
          <p:cNvSpPr txBox="1"/>
          <p:nvPr/>
        </p:nvSpPr>
        <p:spPr>
          <a:xfrm>
            <a:off x="1918607" y="1248566"/>
            <a:ext cx="610144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Sales by Category</a:t>
            </a:r>
          </a:p>
          <a:p>
            <a:pPr>
              <a:buNone/>
            </a:pPr>
            <a:endParaRPr lang="en-U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Technology: 38% (highest)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Furniture: 32%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Office Supplies: 30% </a:t>
            </a:r>
          </a:p>
          <a:p>
            <a:pPr>
              <a:buNone/>
            </a:pPr>
            <a:r>
              <a:rPr lang="en-US" sz="2800" dirty="0"/>
              <a:t>Insight: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Technology drives the most revenue</a:t>
            </a:r>
          </a:p>
        </p:txBody>
      </p:sp>
    </p:spTree>
    <p:extLst>
      <p:ext uri="{BB962C8B-B14F-4D97-AF65-F5344CB8AC3E}">
        <p14:creationId xmlns:p14="http://schemas.microsoft.com/office/powerpoint/2010/main" val="1352027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F05053-C32B-3F3C-879D-39E486EB335F}"/>
              </a:ext>
            </a:extLst>
          </p:cNvPr>
          <p:cNvSpPr txBox="1"/>
          <p:nvPr/>
        </p:nvSpPr>
        <p:spPr>
          <a:xfrm>
            <a:off x="1820636" y="1237681"/>
            <a:ext cx="610144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Regional Performance (Quantity Sold)</a:t>
            </a:r>
          </a:p>
          <a:p>
            <a:pPr>
              <a:buNone/>
            </a:pPr>
            <a:endParaRPr lang="en-U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Central region has the highest quantity (41,762)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South and North also perform well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Canada and Caribbean are lowest </a:t>
            </a:r>
          </a:p>
          <a:p>
            <a:pPr>
              <a:buNone/>
            </a:pPr>
            <a:r>
              <a:rPr lang="en-US" sz="2800" dirty="0"/>
              <a:t>Insight: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Demand is concentrated in central regions</a:t>
            </a:r>
          </a:p>
        </p:txBody>
      </p:sp>
    </p:spTree>
    <p:extLst>
      <p:ext uri="{BB962C8B-B14F-4D97-AF65-F5344CB8AC3E}">
        <p14:creationId xmlns:p14="http://schemas.microsoft.com/office/powerpoint/2010/main" val="1120599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80A0E7-7DCC-785F-8BF5-2C0560E09E21}"/>
              </a:ext>
            </a:extLst>
          </p:cNvPr>
          <p:cNvSpPr txBox="1"/>
          <p:nvPr/>
        </p:nvSpPr>
        <p:spPr>
          <a:xfrm>
            <a:off x="2081893" y="1215909"/>
            <a:ext cx="610144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Customer Segment Analysis (Discount)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Consumer segment receives highest discount (2148)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Corporate follows (1265)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Home Office lowest (759) </a:t>
            </a:r>
          </a:p>
          <a:p>
            <a:pPr>
              <a:buNone/>
            </a:pPr>
            <a:r>
              <a:rPr lang="en-US" sz="2800" dirty="0"/>
              <a:t>Insight: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Discounts are heavily targeted at consumers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Could be affecting profit margins</a:t>
            </a:r>
          </a:p>
        </p:txBody>
      </p:sp>
    </p:spTree>
    <p:extLst>
      <p:ext uri="{BB962C8B-B14F-4D97-AF65-F5344CB8AC3E}">
        <p14:creationId xmlns:p14="http://schemas.microsoft.com/office/powerpoint/2010/main" val="336670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5E09D2-E3EB-CF5D-E9C7-3D1CCCF16A43}"/>
              </a:ext>
            </a:extLst>
          </p:cNvPr>
          <p:cNvSpPr txBox="1"/>
          <p:nvPr/>
        </p:nvSpPr>
        <p:spPr>
          <a:xfrm>
            <a:off x="1744437" y="1360438"/>
            <a:ext cx="610144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Shipping Mode Analysis</a:t>
            </a:r>
          </a:p>
          <a:p>
            <a:pPr>
              <a:buNone/>
            </a:pPr>
            <a:endParaRPr lang="en-U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Standard Class: 60% (most used)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Second Class: 20%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First Class: 15%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Same Day: 5% </a:t>
            </a:r>
          </a:p>
          <a:p>
            <a:pPr>
              <a:buNone/>
            </a:pPr>
            <a:r>
              <a:rPr lang="en-US" sz="2800" dirty="0"/>
              <a:t>Insight: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Customers prefer cheaper shipping options</a:t>
            </a:r>
          </a:p>
        </p:txBody>
      </p:sp>
    </p:spTree>
    <p:extLst>
      <p:ext uri="{BB962C8B-B14F-4D97-AF65-F5344CB8AC3E}">
        <p14:creationId xmlns:p14="http://schemas.microsoft.com/office/powerpoint/2010/main" val="4057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8A83CB-6F6A-AFE2-45E1-01B3C2ECF3DF}"/>
              </a:ext>
            </a:extLst>
          </p:cNvPr>
          <p:cNvSpPr txBox="1"/>
          <p:nvPr/>
        </p:nvSpPr>
        <p:spPr>
          <a:xfrm>
            <a:off x="1679122" y="1313212"/>
            <a:ext cx="610144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Monthly Profit Trend</a:t>
            </a:r>
          </a:p>
          <a:p>
            <a:pPr>
              <a:buNone/>
            </a:pPr>
            <a:endParaRPr lang="en-U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Profit fluctuates across months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Peaks around: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September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November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Lower performance in early months </a:t>
            </a:r>
          </a:p>
          <a:p>
            <a:pPr>
              <a:buNone/>
            </a:pPr>
            <a:r>
              <a:rPr lang="en-US" sz="2800" dirty="0"/>
              <a:t>Insight: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Sales/profit are seasonal</a:t>
            </a:r>
          </a:p>
        </p:txBody>
      </p:sp>
    </p:spTree>
    <p:extLst>
      <p:ext uri="{BB962C8B-B14F-4D97-AF65-F5344CB8AC3E}">
        <p14:creationId xmlns:p14="http://schemas.microsoft.com/office/powerpoint/2010/main" val="3505196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E08D56-5D30-D0D1-6D8B-99026C0AF01A}"/>
              </a:ext>
            </a:extLst>
          </p:cNvPr>
          <p:cNvSpPr txBox="1"/>
          <p:nvPr/>
        </p:nvSpPr>
        <p:spPr>
          <a:xfrm>
            <a:off x="1711778" y="1575139"/>
            <a:ext cx="755196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Key Insights </a:t>
            </a:r>
          </a:p>
          <a:p>
            <a:pPr>
              <a:buNone/>
            </a:pPr>
            <a:endParaRPr lang="en-US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Technology is the most profitable category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Central region drives the highest demand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Consumer segment gets the most discounts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Standard shipping dominates usage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Profit shows seasonal trends</a:t>
            </a:r>
          </a:p>
        </p:txBody>
      </p:sp>
    </p:spTree>
    <p:extLst>
      <p:ext uri="{BB962C8B-B14F-4D97-AF65-F5344CB8AC3E}">
        <p14:creationId xmlns:p14="http://schemas.microsoft.com/office/powerpoint/2010/main" val="2267979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002B60-2086-46D6-B287-38029356B3D3}"/>
              </a:ext>
            </a:extLst>
          </p:cNvPr>
          <p:cNvSpPr txBox="1"/>
          <p:nvPr/>
        </p:nvSpPr>
        <p:spPr>
          <a:xfrm>
            <a:off x="1755321" y="1579011"/>
            <a:ext cx="767170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Recommendations</a:t>
            </a:r>
          </a:p>
          <a:p>
            <a:pPr>
              <a:buNone/>
            </a:pPr>
            <a:r>
              <a:rPr lang="en-US" sz="2800" dirty="0"/>
              <a:t>The Business should: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Focus more on Technology products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Reduce excessive discounts to improve profit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Expand operations in high-performing regions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Introduce incentives for faster shipping options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Plan promotions around high-profit months</a:t>
            </a:r>
          </a:p>
        </p:txBody>
      </p:sp>
    </p:spTree>
    <p:extLst>
      <p:ext uri="{BB962C8B-B14F-4D97-AF65-F5344CB8AC3E}">
        <p14:creationId xmlns:p14="http://schemas.microsoft.com/office/powerpoint/2010/main" val="1353482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2B5298-B09F-695E-6452-44AEA78D25CF}"/>
              </a:ext>
            </a:extLst>
          </p:cNvPr>
          <p:cNvSpPr txBox="1"/>
          <p:nvPr/>
        </p:nvSpPr>
        <p:spPr>
          <a:xfrm>
            <a:off x="2702379" y="2132151"/>
            <a:ext cx="723627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/>
              <a:t>Conclusion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2800" dirty="0"/>
              <a:t>The business is performing well in sales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2800" dirty="0"/>
              <a:t>Profit can be improved with better strategies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2800" dirty="0"/>
              <a:t>Data-driven decisions will enhance growth</a:t>
            </a:r>
          </a:p>
        </p:txBody>
      </p:sp>
    </p:spTree>
    <p:extLst>
      <p:ext uri="{BB962C8B-B14F-4D97-AF65-F5344CB8AC3E}">
        <p14:creationId xmlns:p14="http://schemas.microsoft.com/office/powerpoint/2010/main" val="697954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03C2FA-AE2F-32F6-B872-89BD082677B0}"/>
              </a:ext>
            </a:extLst>
          </p:cNvPr>
          <p:cNvSpPr txBox="1"/>
          <p:nvPr/>
        </p:nvSpPr>
        <p:spPr>
          <a:xfrm>
            <a:off x="4566557" y="3044279"/>
            <a:ext cx="30588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THANK YOU</a:t>
            </a:r>
            <a:endParaRPr lang="en-NG" sz="4400" dirty="0"/>
          </a:p>
        </p:txBody>
      </p:sp>
    </p:spTree>
    <p:extLst>
      <p:ext uri="{BB962C8B-B14F-4D97-AF65-F5344CB8AC3E}">
        <p14:creationId xmlns:p14="http://schemas.microsoft.com/office/powerpoint/2010/main" val="42406096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13</TotalTime>
  <Words>379</Words>
  <Application>Microsoft Office PowerPoint</Application>
  <PresentationFormat>Widescreen</PresentationFormat>
  <Paragraphs>95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Times New Roman</vt:lpstr>
      <vt:lpstr>Tw Cen MT</vt:lpstr>
      <vt:lpstr>Circuit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Gospel Michael</dc:creator>
  <cp:lastModifiedBy>Gospel Michael</cp:lastModifiedBy>
  <cp:revision>1</cp:revision>
  <dcterms:created xsi:type="dcterms:W3CDTF">2026-03-27T12:56:12Z</dcterms:created>
  <dcterms:modified xsi:type="dcterms:W3CDTF">2026-03-27T13:09:43Z</dcterms:modified>
</cp:coreProperties>
</file>